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Вітання. Шановні члени комісії, тема моєї дипломної роботи — автоматизована система розгортання хмарної інфраструктури на базі Google Kubernetes Engine. Це референсна Cloud-Native платформа на Google Cloud Platform: повністю автоматизований CI/CD-конвеєр, безключова автентифікація та принципи Zero Trust. Ключові технології — Terraform, GitHub Actions та Workload Identity Federation. Далі коротко про проблему, яку вирішує робота.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Сучасна розробка нерозривно пов'язана з хмарою, але три проблеми лишаються критичними. Перша — ручне управління інфраструктурою: середовища невідтворювані, виникає конфігураційний дрейф. Друга — довгострокові ключі сервісних акаунтів: це головний вектор атак, бо витік ключа означає повну компрометацію. Третя — класична периметрова безпека у хмарі вже не працює. Відповідь на всі три — єдина автоматизована платформа: інфраструктура як код, безключова автентифікація та Zero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Мета роботи — спроектувати й реалізувати референсну Cloud-Native платформу на GCP з повністю автоматизованим CI/CD, безключовою автентифікацією та безпечною доставкою секретів, і оцінити її за метриками DORA. Для цього поставлено чотири завдання: проаналізувати, спроектувати, реалізувати та оцінити. Об'єкт — процес автоматизації розгортання інфраструктури. Предмет — методи безпечного CI/CD з Workload Identity Federation, IaC та оркестрації в GKE. Наукова новизна — цілісне відтворюване рішення без жодного довгострокового ключа.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Стек свідомо гібридний. Open-source-інструменти — Terraform, Docker, Kubernetes і Helm — дають портативність і контроль. Керовані сервіси GCP — GKE control plane, Cloud SQL, Secret Manager, Artifact Registry та Operations — знімають операційне навантаження. Кожен інструмент обрано з аналізом альтернатив: Terraform проти Pulumi й Crossplane, GitHub Actions проти Cloud Build і Jenkins, GKE Standard проти Cloud Run і Autopilot.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загальна архітектура системи. Логічно вона ділиться на чотири шари. Рівень розробника — GitHub-репозиторій і GitHub Actions. Рівень GCP-інфраструктури — VPC, приватний GKE-кластер, Cloud SQL, Secret Manager, Artifact Registry. Рівень робочих навантажень — поди у кластері, кожен з контейнером застосунку та sidecar cloud-sql-proxy. Рівень користувача — трафік через Cloud Load Balancer. Зверніть увагу: ноди не мають публічних IP, вихід в інтернет лише через Cloud NAT, а доступ до бази — приватним IP через VPC Peering.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Ключова інновація роботи — повна відмова від довгострокових ключів. Workload Identity Federation працює так: GitHub Actions отримує OIDC-токен, обмінює його у Security Token Service на access-токен GCP, який живе близько години й ніде не зберігається. Та сама механіка діє всередині кластера для подів. Додатково: приватний кластер, принцип найменших привілеїв — рівно п'ять ролей, deny-by-default брандмауер, секрети через CSI Driver, непривілейовані поди. Аудит за CIS Benchmark for GKE — усі десять пунктів дотримано. Підсумок: у системі немає жодного довгострокового ключа.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Інфраструктура реалізована п'ятьма незалежними Terraform-модулями: vpc, iam, db, gke та registry. Уся міжмодульна комунікація — лише через input/output-змінні, що дозволяє тиражувати середовища. Уся інфраструктура піднімається однією командою terraform apply. CI/CD — це двоетапний DAG у GitHub Actions, що тригериться кожним push у main. Перший job — lint-and-scan з TFLint, Hadolint і Trivy — реалізує shift-left security й блокує деплой при помилці. Другий job послідовно: terraform apply, збірка й push образу в Artifact Registry та kubectl rollout без downtime. Це Continuous Deployment без ручних підтверджень.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Ефективність оцінено за чотирма метриками DORA — індустріальним стандартом. Lead Time for Changes — від 8 до 40 хвилин. Deployment Frequency — до трьох деплоїв на день, технічно on-demand. Mean Time to Recovery — від 12 до 60 секунд завдяки self-healing механізмам Kubernetes; для користувача фактично нуль, бо працюють дві репліки. Change Failure Rate — 5–10 відсотків, переважно завдяки job lint-and-scan. Усі чотири метрики потрапляють у найвищу категорію — Elite. Вимірювання робилися мінімум тричі для відтворюваності.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Щодо вартості: повна цілодобова інфраструктура коштує близько 120 доларів на місяць, і 80 відсотків — це фіксована ціна GKE control plane та system-pool. Але завдяки автоматизації працює destroy-стратегія: інфраструктура піднімається на час тестування — приблизно 4 години на день — і знищується однією командою. Фактична вартість падає приблизно до 20 доларів. Допомагають Spot-ноди зі знижкою до 91 відсотка та мінімальна Cloud SQL. Порівняння з ручним розгортанням: автоматизація скорочує час на порядок — з годин до хвилин, дає повну відтворюваність, усуває людський фактор і додає версіонування й аудит.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Підсумуємо. Мету досягнуто в повному обсязі. Уся інфраструктура піднімається однією командою terraform apply. У системі немає жодного довгострокового ключа, а аудит за CIS Benchmark підтвердив відповідність усім десяти пунктам. Усі чотири метрики DORA — рівень Elite. Фактична вартість — близько 20 доларів на місяць. Проект є відкритим відтворюваним шаблоном. Напрямки розвитку: перехід на GitOps з Argo CD, multi-zone конфігурація, GKE Autopilot та canary-стратегії через Argo Rollouts.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Дякую за увагу. Готовий відповісти на ваші запитання.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274320" cy="2743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" y="777240"/>
            <a:ext cx="274320" cy="2743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1408176" y="777240"/>
            <a:ext cx="274320" cy="27432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792224" y="777240"/>
            <a:ext cx="274320" cy="2743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A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ДИПЛОМНА РОБОТА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6372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Автоматизована система розгортання хмарної інфраструктури на базі Google Kubernetes Engine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9539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Референсна Cloud-Native платформа на Google Cloud Platform з повністю автоматизованим CI/CD, безключовою автентифікацією та архітектурою Zero Trust.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617720"/>
            <a:ext cx="1227125" cy="420624"/>
          </a:xfrm>
          <a:prstGeom prst="roundRect">
            <a:avLst>
              <a:gd name="adj" fmla="val 50000"/>
            </a:avLst>
          </a:prstGeom>
          <a:solidFill>
            <a:srgbClr val="1232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617720"/>
            <a:ext cx="12271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68373" y="4617720"/>
            <a:ext cx="1766621" cy="420624"/>
          </a:xfrm>
          <a:prstGeom prst="roundRect">
            <a:avLst>
              <a:gd name="adj" fmla="val 50000"/>
            </a:avLst>
          </a:prstGeom>
          <a:solidFill>
            <a:srgbClr val="1232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68373" y="4617720"/>
            <a:ext cx="176662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36162" y="4617720"/>
            <a:ext cx="2090318" cy="420624"/>
          </a:xfrm>
          <a:prstGeom prst="roundRect">
            <a:avLst>
              <a:gd name="adj" fmla="val 50000"/>
            </a:avLst>
          </a:prstGeom>
          <a:solidFill>
            <a:srgbClr val="1232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36162" y="4617720"/>
            <a:ext cx="20903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Workload Identity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27648" y="4617720"/>
            <a:ext cx="1335024" cy="420624"/>
          </a:xfrm>
          <a:prstGeom prst="roundRect">
            <a:avLst>
              <a:gd name="adj" fmla="val 50000"/>
            </a:avLst>
          </a:prstGeom>
          <a:solidFill>
            <a:srgbClr val="1232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4617720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DORA Elite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669280"/>
            <a:ext cx="54864" cy="7772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56692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Виконав: Денис  ·  спеціальність «Комп'ютерні науки»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Науковий керівник: ______________________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180015" y="56692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A4B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4335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38912"/>
            <a:ext cx="92656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Актуальність та проблематика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774375" y="45720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Вступ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89888" y="1024128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ручне управління хмарою стало вузьким місцем і джерелом ризиків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3423818" cy="2880360"/>
          </a:xfrm>
          <a:prstGeom prst="roundRect">
            <a:avLst>
              <a:gd name="adj" fmla="val 2540"/>
            </a:avLst>
          </a:prstGeom>
          <a:solidFill>
            <a:srgbClr val="F4F6F8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1920240"/>
            <a:ext cx="777240" cy="777240"/>
          </a:xfrm>
          <a:prstGeom prst="ellipse">
            <a:avLst/>
          </a:prstGeom>
          <a:solidFill>
            <a:srgbClr val="1A73E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2121408"/>
            <a:ext cx="374904" cy="3749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788920"/>
            <a:ext cx="2783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Ручне управління інфраструктурою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60120" y="3456432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Невідтворюваність середовищ, конфігураційний дрейф і людський фактор при ручних змінах у production.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83938" y="1600200"/>
            <a:ext cx="3423818" cy="2880360"/>
          </a:xfrm>
          <a:prstGeom prst="roundRect">
            <a:avLst>
              <a:gd name="adj" fmla="val 2540"/>
            </a:avLst>
          </a:prstGeom>
          <a:solidFill>
            <a:srgbClr val="F4F6F8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03978" y="1920240"/>
            <a:ext cx="777240" cy="777240"/>
          </a:xfrm>
          <a:prstGeom prst="ellipse">
            <a:avLst/>
          </a:prstGeom>
          <a:solidFill>
            <a:srgbClr val="E3740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146" y="2121408"/>
            <a:ext cx="374904" cy="3749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3978" y="2788920"/>
            <a:ext cx="2783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Довгострокові ключі сервісних акаунтів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703978" y="3456432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із головних векторів атак на хмару: витік JSON-ключа дорівнює повній компрометації акаунта.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27797" y="1600200"/>
            <a:ext cx="3423818" cy="2880360"/>
          </a:xfrm>
          <a:prstGeom prst="roundRect">
            <a:avLst>
              <a:gd name="adj" fmla="val 2540"/>
            </a:avLst>
          </a:prstGeom>
          <a:solidFill>
            <a:srgbClr val="F4F6F8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447837" y="1920240"/>
            <a:ext cx="777240" cy="777240"/>
          </a:xfrm>
          <a:prstGeom prst="ellipse">
            <a:avLst/>
          </a:prstGeom>
          <a:solidFill>
            <a:srgbClr val="EA43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9005" y="2121408"/>
            <a:ext cx="374904" cy="3749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47837" y="2788920"/>
            <a:ext cx="2783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Периметрова безпека не працює у хмарі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447837" y="3456432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Розподілені сервіси й віддалений доступ вимагають моделі Zero Trust: «ніколи не довіряй, завжди перевіряй».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40080" y="480060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E8F0FE"/>
          </a:solidFill>
          <a:ln/>
        </p:spPr>
      </p:sp>
      <p:sp>
        <p:nvSpPr>
          <p:cNvPr id="23" name="Shape 17"/>
          <p:cNvSpPr/>
          <p:nvPr/>
        </p:nvSpPr>
        <p:spPr>
          <a:xfrm>
            <a:off x="640080" y="4800600"/>
            <a:ext cx="73152" cy="9601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4" name="Text 18"/>
          <p:cNvSpPr/>
          <p:nvPr/>
        </p:nvSpPr>
        <p:spPr>
          <a:xfrm>
            <a:off x="914400" y="480060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Рішення: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єдина автоматизована платформа, що поєднує Infrastructure as Code, безключову автентифікацію через Workload Identity Federation та принципи Zero Trust у межах Google Kubernetes Engine.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gke-terraform-project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73E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38912"/>
            <a:ext cx="92656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Мета та завдання дослідження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774375" y="45720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Вступ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10911535" cy="1097280"/>
          </a:xfrm>
          <a:prstGeom prst="roundRect">
            <a:avLst>
              <a:gd name="adj" fmla="val 6667"/>
            </a:avLst>
          </a:prstGeom>
          <a:solidFill>
            <a:srgbClr val="0B254A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1719072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Спроектувати та реалізувати референсну Cloud-Native платформу на GCP із повністю автоматизованим CI/CD, безключовою автентифікацією й безпечною доставкою секретів — та оцінити її ефективність за метриками DORA.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4008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Завдання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035808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70432" y="299923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Проаналізувати DevOps-практики, парадигми автоматизації та сервіси Google Cloud Platform.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3813048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70432" y="377647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Спроектувати архітектуру: мережеву топологію, модель безпеки, структуру Terraform-модулів і CI/CD.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4590288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70432" y="455371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Реалізувати інфраструктуру (Terraform), контейнеризувати застосунок, налаштувати GitHub Actions.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" y="5367528"/>
            <a:ext cx="384048" cy="384048"/>
          </a:xfrm>
          <a:prstGeom prst="ellipse">
            <a:avLst/>
          </a:prstGeom>
          <a:solidFill>
            <a:srgbClr val="E8F0FE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70432" y="533095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Оцінити ефективність за метриками DORA, провести аналіз вартості й аудит безпеки.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17920" y="2606040"/>
            <a:ext cx="5333695" cy="1024128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17920" y="2606040"/>
            <a:ext cx="64008" cy="102412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4" name="Text 21"/>
          <p:cNvSpPr/>
          <p:nvPr/>
        </p:nvSpPr>
        <p:spPr>
          <a:xfrm>
            <a:off x="6473952" y="2715768"/>
            <a:ext cx="4876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Об'єкт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73952" y="3026664"/>
            <a:ext cx="4876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 автоматизації розгортання та управління хмарною інфраструктурою в GCP.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17920" y="3739896"/>
            <a:ext cx="5333695" cy="1024128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17920" y="3739896"/>
            <a:ext cx="64008" cy="1024128"/>
          </a:xfrm>
          <a:prstGeom prst="rect">
            <a:avLst/>
          </a:prstGeom>
          <a:solidFill>
            <a:srgbClr val="188038"/>
          </a:solidFill>
          <a:ln/>
        </p:spPr>
      </p:sp>
      <p:sp>
        <p:nvSpPr>
          <p:cNvPr id="28" name="Text 25"/>
          <p:cNvSpPr/>
          <p:nvPr/>
        </p:nvSpPr>
        <p:spPr>
          <a:xfrm>
            <a:off x="6473952" y="3849624"/>
            <a:ext cx="4876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Предмет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473952" y="4160520"/>
            <a:ext cx="4876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 й інструменти безпечного CI/CD з WIF, IaC на Terraform та оркестрації контейнерів у GKE.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17920" y="4873752"/>
            <a:ext cx="5333695" cy="1024128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217920" y="4873752"/>
            <a:ext cx="64008" cy="1024128"/>
          </a:xfrm>
          <a:prstGeom prst="rect">
            <a:avLst/>
          </a:prstGeom>
          <a:solidFill>
            <a:srgbClr val="E37400"/>
          </a:solidFill>
          <a:ln/>
        </p:spPr>
      </p:sp>
      <p:sp>
        <p:nvSpPr>
          <p:cNvPr id="32" name="Text 29"/>
          <p:cNvSpPr/>
          <p:nvPr/>
        </p:nvSpPr>
        <p:spPr>
          <a:xfrm>
            <a:off x="6473952" y="4983480"/>
            <a:ext cx="4876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7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Наукова новизна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473952" y="5294376"/>
            <a:ext cx="4876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цілісне відтворюване рішення, що реалізує Zero Trust через WIF і виключає довгострокові ключі і в CI/CD, і в подах.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gke-terraform-project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8803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38912"/>
            <a:ext cx="92656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Технологічний стек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774375" y="45720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Розділ 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89888" y="1024128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Гібридний стек: open-source для портативності + керовані сервіси GCP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075688"/>
            <a:ext cx="658368" cy="6583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2093976"/>
            <a:ext cx="2128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Terraform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32688" y="2862072"/>
            <a:ext cx="28873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— 5 модулів, декларативність та ідемпотентність розгортання.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68698" y="17830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306" y="2075688"/>
            <a:ext cx="658368" cy="6583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65978" y="2093976"/>
            <a:ext cx="2128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/ OCI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661306" y="2862072"/>
            <a:ext cx="28873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Багатоетапний образ, незмінна (immutable) інфраструктура.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97317" y="17830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925" y="2075688"/>
            <a:ext cx="658368" cy="6583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94597" y="2093976"/>
            <a:ext cx="2128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 — GKE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8389925" y="2862072"/>
            <a:ext cx="28873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Оркестрація: sidecar, CSI Driver, Workload Identity, Ingress.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0080" y="3904488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197096"/>
            <a:ext cx="658368" cy="6583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737360" y="4215384"/>
            <a:ext cx="2128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932688" y="4983480"/>
            <a:ext cx="28873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з нативною підтримкою WIF; безкоштовно для public-репо.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368698" y="3904488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1306" y="4197096"/>
            <a:ext cx="658368" cy="6583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465978" y="4215384"/>
            <a:ext cx="2128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</a:t>
            </a:r>
            <a:endParaRPr lang="en-US" sz="1700" dirty="0"/>
          </a:p>
        </p:txBody>
      </p:sp>
      <p:sp>
        <p:nvSpPr>
          <p:cNvPr id="26" name="Text 18"/>
          <p:cNvSpPr/>
          <p:nvPr/>
        </p:nvSpPr>
        <p:spPr>
          <a:xfrm>
            <a:off x="4661306" y="4983480"/>
            <a:ext cx="28873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Розгортання kube-prometheus-stack для спостережуваності.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8097317" y="3904488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9925" y="4197096"/>
            <a:ext cx="658368" cy="6583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194597" y="4215384"/>
            <a:ext cx="2128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Cloud</a:t>
            </a:r>
            <a:endParaRPr lang="en-US" sz="1700" dirty="0"/>
          </a:p>
        </p:txBody>
      </p:sp>
      <p:sp>
        <p:nvSpPr>
          <p:cNvPr id="30" name="Text 21"/>
          <p:cNvSpPr/>
          <p:nvPr/>
        </p:nvSpPr>
        <p:spPr>
          <a:xfrm>
            <a:off x="8389925" y="4983480"/>
            <a:ext cx="28873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GKE, Cloud SQL, Secret Manager, Artifact Registry, Operations.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gke-terraform-project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4285F4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38912"/>
            <a:ext cx="92656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Архітектура системи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774375" y="45720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Розділ 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89888" y="1024128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шари: розробник → GCP-інфраструктура → робочі навантаження → користувач</a:t>
            </a:r>
            <a:endParaRPr lang="en-US" sz="1350" dirty="0"/>
          </a:p>
        </p:txBody>
      </p:sp>
      <p:pic>
        <p:nvPicPr>
          <p:cNvPr id="7" name="Image 1" descr="/sessions/upbeat-eager-ramanujan/mnt/outputs/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865" y="1444752"/>
            <a:ext cx="6971965" cy="4572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60533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Рис. 2.1 — Маршрут даних: push у main → GitHub Actions (WIF) → terraform apply → Artifact Registry → kubectl → GKE → Load Balancer → користувач.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gke-terraform-project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5221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38912"/>
            <a:ext cx="92656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Безпека: Zero Trust та безключова автентифікація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774375" y="45720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Розділ 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Як працює Workload Identity Federation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2212848"/>
            <a:ext cx="0" cy="502920"/>
          </a:xfrm>
          <a:prstGeom prst="line">
            <a:avLst/>
          </a:prstGeom>
          <a:noFill/>
          <a:ln w="19050">
            <a:solidFill>
              <a:srgbClr val="DADC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70432" y="1773936"/>
            <a:ext cx="5138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отримує OIDC-токен від token.actions.githubusercontent.com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2715768"/>
            <a:ext cx="365760" cy="36576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3099816"/>
            <a:ext cx="0" cy="502920"/>
          </a:xfrm>
          <a:prstGeom prst="line">
            <a:avLst/>
          </a:prstGeom>
          <a:noFill/>
          <a:ln w="19050">
            <a:solidFill>
              <a:srgbClr val="DADC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0432" y="2660904"/>
            <a:ext cx="5138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 обмінюється у Security Token Service на access-токен GCP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3602736"/>
            <a:ext cx="365760" cy="36576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" y="3986784"/>
            <a:ext cx="0" cy="502920"/>
          </a:xfrm>
          <a:prstGeom prst="line">
            <a:avLst/>
          </a:prstGeom>
          <a:noFill/>
          <a:ln w="19050">
            <a:solidFill>
              <a:srgbClr val="DADC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70432" y="3547872"/>
            <a:ext cx="5138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 живе ~1 годину і ніде надовго не зберігається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" y="4489704"/>
            <a:ext cx="365760" cy="36576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4489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70432" y="4434840"/>
            <a:ext cx="5138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сама механіка для подів: KSA діє від імені GSA без ключа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675120" y="1371600"/>
            <a:ext cx="4876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Властивості безпеки</a:t>
            </a:r>
            <a:endParaRPr lang="en-US" sz="15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5623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086600" y="1773936"/>
            <a:ext cx="4465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Приватний кластер — ноди без публічних IP</a:t>
            </a:r>
            <a:endParaRPr lang="en-US" sz="13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404872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086600" y="2322576"/>
            <a:ext cx="4465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PoLP: рівно 5 ролей у сервісного акаунта</a:t>
            </a:r>
            <a:endParaRPr lang="en-US" sz="13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953512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86600" y="2871216"/>
            <a:ext cx="4465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Брандмауер deny-by-default</a:t>
            </a:r>
            <a:endParaRPr lang="en-US" sz="13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502152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086600" y="3419856"/>
            <a:ext cx="4465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Секрети — через Secret Manager CSI Driver</a:t>
            </a:r>
            <a:endParaRPr lang="en-US" sz="13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05079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86600" y="3968496"/>
            <a:ext cx="4465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Поди: UID 1000, readOnlyRootFilesystem</a:t>
            </a:r>
            <a:endParaRPr lang="en-US" sz="13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599432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086600" y="4517136"/>
            <a:ext cx="4465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 for GKE — 10/10 пунктів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640080" y="534924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0B254A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5559552"/>
            <a:ext cx="411480" cy="41148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600200" y="5349240"/>
            <a:ext cx="9631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довгострокових ключів  </a:t>
            </a:r>
            <a:pPr indent="0" marL="0">
              <a:buNone/>
            </a:pPr>
            <a:r>
              <a:rPr lang="en-US" sz="15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ні в Git, ні в GitHub Secrets, ні всередині Pod-а.</a:t>
            </a:r>
            <a:endParaRPr lang="en-US" sz="2200" dirty="0"/>
          </a:p>
        </p:txBody>
      </p:sp>
      <p:sp>
        <p:nvSpPr>
          <p:cNvPr id="38" name="Text 28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gke-terraform-project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37400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38912"/>
            <a:ext cx="92656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Реалізація: інфраструктура як код та CI/CD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774375" y="45720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Розділ 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П'ять Terraform-модулів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810512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6384" y="1956816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1A73E8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19568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vpc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331720" y="181051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мережа, підмережі, Cloud NAT, VPC Peering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560320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706624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188038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27066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331720" y="25603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сервісний акаунт + 5 ролей (PoLP)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3310128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6384" y="3456432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E37400"/>
          </a:solidFill>
          <a:ln/>
        </p:spPr>
      </p:sp>
      <p:sp>
        <p:nvSpPr>
          <p:cNvPr id="17" name="Text 14"/>
          <p:cNvSpPr/>
          <p:nvPr/>
        </p:nvSpPr>
        <p:spPr>
          <a:xfrm>
            <a:off x="786384" y="34564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331720" y="331012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 PostgreSQL + Secret Manager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4059936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6384" y="4206240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C5221F"/>
          </a:solidFill>
          <a:ln/>
        </p:spPr>
      </p:sp>
      <p:sp>
        <p:nvSpPr>
          <p:cNvPr id="21" name="Text 18"/>
          <p:cNvSpPr/>
          <p:nvPr/>
        </p:nvSpPr>
        <p:spPr>
          <a:xfrm>
            <a:off x="786384" y="42062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gke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331720" y="4059936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приватний кластер, 2 node pool (Spot)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" y="4809744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86384" y="4956048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4285F4"/>
          </a:solidFill>
          <a:ln/>
        </p:spPr>
      </p:sp>
      <p:sp>
        <p:nvSpPr>
          <p:cNvPr id="25" name="Text 22"/>
          <p:cNvSpPr/>
          <p:nvPr/>
        </p:nvSpPr>
        <p:spPr>
          <a:xfrm>
            <a:off x="786384" y="49560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331720" y="480974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Registry для Docker-образів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309360" y="1371600"/>
            <a:ext cx="5242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CI/CD-конвеєр — GitHub Actions (push у main)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309360" y="1810512"/>
            <a:ext cx="5242255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1A73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309360" y="1810512"/>
            <a:ext cx="82296" cy="74980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0" name="Text 27"/>
          <p:cNvSpPr/>
          <p:nvPr/>
        </p:nvSpPr>
        <p:spPr>
          <a:xfrm>
            <a:off x="6565392" y="1901952"/>
            <a:ext cx="4785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lint-and-scan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565392" y="2212848"/>
            <a:ext cx="4785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TFLint · Hadolint · Trivy (shift-left security)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309360" y="2743200"/>
            <a:ext cx="5242255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18803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309360" y="2743200"/>
            <a:ext cx="82296" cy="749808"/>
          </a:xfrm>
          <a:prstGeom prst="rect">
            <a:avLst/>
          </a:prstGeom>
          <a:solidFill>
            <a:srgbClr val="188038"/>
          </a:solidFill>
          <a:ln/>
        </p:spPr>
      </p:sp>
      <p:sp>
        <p:nvSpPr>
          <p:cNvPr id="34" name="Text 31"/>
          <p:cNvSpPr/>
          <p:nvPr/>
        </p:nvSpPr>
        <p:spPr>
          <a:xfrm>
            <a:off x="6565392" y="2834640"/>
            <a:ext cx="4785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8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565392" y="3145536"/>
            <a:ext cx="4785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автентифікація через WIF, узгодження інфраструктури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309360" y="3675888"/>
            <a:ext cx="5242255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E3740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309360" y="3675888"/>
            <a:ext cx="82296" cy="749808"/>
          </a:xfrm>
          <a:prstGeom prst="rect">
            <a:avLst/>
          </a:prstGeom>
          <a:solidFill>
            <a:srgbClr val="E37400"/>
          </a:solidFill>
          <a:ln/>
        </p:spPr>
      </p:sp>
      <p:sp>
        <p:nvSpPr>
          <p:cNvPr id="38" name="Text 35"/>
          <p:cNvSpPr/>
          <p:nvPr/>
        </p:nvSpPr>
        <p:spPr>
          <a:xfrm>
            <a:off x="6565392" y="3767328"/>
            <a:ext cx="4785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7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+ push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565392" y="4078224"/>
            <a:ext cx="4785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 = git short hash → Artifact Registry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309360" y="4608576"/>
            <a:ext cx="5242255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C5221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309360" y="4608576"/>
            <a:ext cx="82296" cy="749808"/>
          </a:xfrm>
          <a:prstGeom prst="rect">
            <a:avLst/>
          </a:prstGeom>
          <a:solidFill>
            <a:srgbClr val="C5221F"/>
          </a:solidFill>
          <a:ln/>
        </p:spPr>
      </p:sp>
      <p:sp>
        <p:nvSpPr>
          <p:cNvPr id="42" name="Text 39"/>
          <p:cNvSpPr/>
          <p:nvPr/>
        </p:nvSpPr>
        <p:spPr>
          <a:xfrm>
            <a:off x="6565392" y="4700016"/>
            <a:ext cx="4785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22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6565392" y="5010912"/>
            <a:ext cx="4785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 без downtime + діагностика збоїв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gke-terraform-project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8803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38912"/>
            <a:ext cx="92656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Результати: метрики DORA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774375" y="45720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Розділ 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89888" y="1024128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чотири метрики відповідають категорії Elite за класифікацією DORA 2024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2522144" cy="324612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535392" y="2011680"/>
            <a:ext cx="731520" cy="731520"/>
          </a:xfrm>
          <a:prstGeom prst="ellipse">
            <a:avLst/>
          </a:prstGeom>
          <a:solidFill>
            <a:srgbClr val="1A73E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272" y="21945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288036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8–40</a:t>
            </a:r>
            <a:pPr algn="ctr"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хв</a:t>
            </a:r>
            <a:endParaRPr lang="en-US" sz="3300" dirty="0"/>
          </a:p>
        </p:txBody>
      </p:sp>
      <p:sp>
        <p:nvSpPr>
          <p:cNvPr id="11" name="Text 7"/>
          <p:cNvSpPr/>
          <p:nvPr/>
        </p:nvSpPr>
        <p:spPr>
          <a:xfrm>
            <a:off x="777240" y="358444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for Changes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123912" y="431596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3" name="Text 9"/>
          <p:cNvSpPr/>
          <p:nvPr/>
        </p:nvSpPr>
        <p:spPr>
          <a:xfrm>
            <a:off x="1123912" y="4315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Elite: &lt; 1 година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436544" y="1691640"/>
            <a:ext cx="2522144" cy="324612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31856" y="2011680"/>
            <a:ext cx="731520" cy="731520"/>
          </a:xfrm>
          <a:prstGeom prst="ellipse">
            <a:avLst/>
          </a:prstGeom>
          <a:solidFill>
            <a:srgbClr val="E374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736" y="21945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27984" y="288036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 3</a:t>
            </a:r>
            <a:pPr algn="ctr"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/день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3573704" y="358444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Frequency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920376" y="431596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20" name="Text 15"/>
          <p:cNvSpPr/>
          <p:nvPr/>
        </p:nvSpPr>
        <p:spPr>
          <a:xfrm>
            <a:off x="3920376" y="4315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Elite: on-demand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233008" y="1691640"/>
            <a:ext cx="2522144" cy="324612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128319" y="2011680"/>
            <a:ext cx="731520" cy="731520"/>
          </a:xfrm>
          <a:prstGeom prst="ellipse">
            <a:avLst/>
          </a:prstGeom>
          <a:solidFill>
            <a:srgbClr val="18803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200" y="219456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24448" y="288036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12–60</a:t>
            </a:r>
            <a:pPr algn="ctr"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сек</a:t>
            </a:r>
            <a:endParaRPr lang="en-US" sz="3300" dirty="0"/>
          </a:p>
        </p:txBody>
      </p:sp>
      <p:sp>
        <p:nvSpPr>
          <p:cNvPr id="25" name="Text 19"/>
          <p:cNvSpPr/>
          <p:nvPr/>
        </p:nvSpPr>
        <p:spPr>
          <a:xfrm>
            <a:off x="6370168" y="358444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Recovery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6716839" y="431596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27" name="Text 21"/>
          <p:cNvSpPr/>
          <p:nvPr/>
        </p:nvSpPr>
        <p:spPr>
          <a:xfrm>
            <a:off x="6716839" y="4315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Elite: self-healing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029471" y="1691640"/>
            <a:ext cx="2522144" cy="324612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924783" y="2011680"/>
            <a:ext cx="731520" cy="731520"/>
          </a:xfrm>
          <a:prstGeom prst="ellipse">
            <a:avLst/>
          </a:prstGeom>
          <a:solidFill>
            <a:srgbClr val="C5221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7663" y="219456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120911" y="288036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5–10</a:t>
            </a:r>
            <a:pPr algn="ctr"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%</a:t>
            </a:r>
            <a:endParaRPr lang="en-US" sz="3300" dirty="0"/>
          </a:p>
        </p:txBody>
      </p:sp>
      <p:sp>
        <p:nvSpPr>
          <p:cNvPr id="32" name="Text 25"/>
          <p:cNvSpPr/>
          <p:nvPr/>
        </p:nvSpPr>
        <p:spPr>
          <a:xfrm>
            <a:off x="9166631" y="358444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 Rate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9513303" y="431596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34" name="Text 27"/>
          <p:cNvSpPr/>
          <p:nvPr/>
        </p:nvSpPr>
        <p:spPr>
          <a:xfrm>
            <a:off x="9513303" y="4315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Elite: 0–15 %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40080" y="516636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E8F0FE"/>
          </a:solidFill>
          <a:ln/>
        </p:spPr>
      </p:sp>
      <p:sp>
        <p:nvSpPr>
          <p:cNvPr id="36" name="Text 29"/>
          <p:cNvSpPr/>
          <p:nvPr/>
        </p:nvSpPr>
        <p:spPr>
          <a:xfrm>
            <a:off x="960120" y="516636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Джерела вимірювань: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timestamp-и GitHub Actions runs, kubectl events і логи подів, історія failed runs. Кожне вимірювання — щонайменше тричі.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gke-terraform-project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73E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38912"/>
            <a:ext cx="92656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Вартість та ефект автоматизації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774375" y="45720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Розділ 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Вартість володіння (TCO)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0B254A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60120" y="2011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$20</a:t>
            </a:r>
            <a:pPr indent="0" marL="0">
              <a:buNone/>
            </a:pPr>
            <a:r>
              <a:rPr lang="en-US" sz="2000" b="1" dirty="0">
                <a:solidFill>
                  <a:srgbClr val="8AB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/міс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60120" y="276148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destroy-стратегії (4 год/день × 22 дні). Повна цілодобова вартість ≈ $120 — 80 % припадає на GKE control plane і system-pool.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5387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4128" y="345643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Spot-ноди e2-standard-2 — знижка до 91 %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1421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4128" y="393192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 db-f1-micro — мінімальна конфігурація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489704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440740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destroy наприкінці робочого дня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6309360" y="1417320"/>
            <a:ext cx="5242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Ручне vs автоматизоване розгортання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6309360" y="1874520"/>
            <a:ext cx="209690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Критерій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406262" y="1874520"/>
            <a:ext cx="15726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Ручне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9978939" y="1874520"/>
            <a:ext cx="15726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309360" y="2286000"/>
            <a:ext cx="5242255" cy="74980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1" name="Text 15"/>
          <p:cNvSpPr/>
          <p:nvPr/>
        </p:nvSpPr>
        <p:spPr>
          <a:xfrm>
            <a:off x="6419088" y="2286000"/>
            <a:ext cx="19871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 повторного розгортання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8406262" y="2286000"/>
            <a:ext cx="157267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годин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978939" y="2286000"/>
            <a:ext cx="157267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8–40 хвилин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419088" y="3035808"/>
            <a:ext cx="19871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Відтворюваність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8406262" y="3035808"/>
            <a:ext cx="157267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низька, дрейф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978939" y="3035808"/>
            <a:ext cx="157267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повна, з коду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309360" y="3785616"/>
            <a:ext cx="5242255" cy="74980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8" name="Text 22"/>
          <p:cNvSpPr/>
          <p:nvPr/>
        </p:nvSpPr>
        <p:spPr>
          <a:xfrm>
            <a:off x="6419088" y="3785616"/>
            <a:ext cx="19871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Людський фактор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8406262" y="3785616"/>
            <a:ext cx="157267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високий ризик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9978939" y="3785616"/>
            <a:ext cx="157267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усунено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419088" y="4535424"/>
            <a:ext cx="19871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Версіонування й аудит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8406262" y="4535424"/>
            <a:ext cx="157267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відсутні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9978939" y="4535424"/>
            <a:ext cx="157267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code review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309360" y="5376672"/>
            <a:ext cx="5242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Автоматизація скорочує час на порядок та усуває людський фактор.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gke-terraform-project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8803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38912"/>
            <a:ext cx="92656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Висновки та напрямки розвитку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774375" y="45720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Висновки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Ключові результати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928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80136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Мету досягнуто: реалізовано референсну Cloud-Native платформу на GCP.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3288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244144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Уся інфраструктура піднімається однією командою terraform apply.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72968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308152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довгострокових ключів (Zero Trust); CIS Benchmark for GKE — 10/10.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13048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51560" y="372160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4 метрики DORA відповідають категорії Elite.</a:t>
            </a:r>
            <a:endParaRPr lang="en-US" sz="13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453128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51560" y="436168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Фактична вартість ≈ $20/міс за destroy-стратегії.</a:t>
            </a:r>
            <a:endParaRPr lang="en-US" sz="13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093208"/>
            <a:ext cx="274320" cy="2743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51560" y="500176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— відкритий відтворюваний шаблон для навчання й production.</a:t>
            </a:r>
            <a:endParaRPr lang="en-US" sz="1350" dirty="0"/>
          </a:p>
        </p:txBody>
      </p:sp>
      <p:sp>
        <p:nvSpPr>
          <p:cNvPr id="19" name="Shape 10"/>
          <p:cNvSpPr/>
          <p:nvPr/>
        </p:nvSpPr>
        <p:spPr>
          <a:xfrm>
            <a:off x="7040880" y="1417320"/>
            <a:ext cx="4510735" cy="4434840"/>
          </a:xfrm>
          <a:prstGeom prst="roundRect">
            <a:avLst>
              <a:gd name="adj" fmla="val 1856"/>
            </a:avLst>
          </a:prstGeom>
          <a:solidFill>
            <a:srgbClr val="0B254A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1691640"/>
            <a:ext cx="457200" cy="4572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8001000" y="169164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Напрямки розвитку</a:t>
            </a:r>
            <a:endParaRPr lang="en-US" sz="1600" dirty="0"/>
          </a:p>
        </p:txBody>
      </p:sp>
      <p:sp>
        <p:nvSpPr>
          <p:cNvPr id="22" name="Shape 12"/>
          <p:cNvSpPr/>
          <p:nvPr/>
        </p:nvSpPr>
        <p:spPr>
          <a:xfrm>
            <a:off x="7406640" y="2423160"/>
            <a:ext cx="146304" cy="146304"/>
          </a:xfrm>
          <a:prstGeom prst="ellipse">
            <a:avLst/>
          </a:prstGeom>
          <a:solidFill>
            <a:srgbClr val="8AB4F8"/>
          </a:solidFill>
          <a:ln/>
        </p:spPr>
      </p:sp>
      <p:sp>
        <p:nvSpPr>
          <p:cNvPr id="23" name="Text 13"/>
          <p:cNvSpPr/>
          <p:nvPr/>
        </p:nvSpPr>
        <p:spPr>
          <a:xfrm>
            <a:off x="7680960" y="2267712"/>
            <a:ext cx="3550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з Argo CD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декларативне керування кластером (pull-модель)</a:t>
            </a:r>
            <a:endParaRPr lang="en-US" sz="1350" dirty="0"/>
          </a:p>
        </p:txBody>
      </p:sp>
      <p:sp>
        <p:nvSpPr>
          <p:cNvPr id="24" name="Shape 14"/>
          <p:cNvSpPr/>
          <p:nvPr/>
        </p:nvSpPr>
        <p:spPr>
          <a:xfrm>
            <a:off x="7406640" y="3264408"/>
            <a:ext cx="146304" cy="146304"/>
          </a:xfrm>
          <a:prstGeom prst="ellipse">
            <a:avLst/>
          </a:prstGeom>
          <a:solidFill>
            <a:srgbClr val="8AB4F8"/>
          </a:solidFill>
          <a:ln/>
        </p:spPr>
      </p:sp>
      <p:sp>
        <p:nvSpPr>
          <p:cNvPr id="25" name="Text 15"/>
          <p:cNvSpPr/>
          <p:nvPr/>
        </p:nvSpPr>
        <p:spPr>
          <a:xfrm>
            <a:off x="7680960" y="3108960"/>
            <a:ext cx="3550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Multi-zone GKE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підвищення відмовостійкості</a:t>
            </a:r>
            <a:endParaRPr lang="en-US" sz="1350" dirty="0"/>
          </a:p>
        </p:txBody>
      </p:sp>
      <p:sp>
        <p:nvSpPr>
          <p:cNvPr id="26" name="Shape 16"/>
          <p:cNvSpPr/>
          <p:nvPr/>
        </p:nvSpPr>
        <p:spPr>
          <a:xfrm>
            <a:off x="7406640" y="4105656"/>
            <a:ext cx="146304" cy="146304"/>
          </a:xfrm>
          <a:prstGeom prst="ellipse">
            <a:avLst/>
          </a:prstGeom>
          <a:solidFill>
            <a:srgbClr val="8AB4F8"/>
          </a:solidFill>
          <a:ln/>
        </p:spPr>
      </p:sp>
      <p:sp>
        <p:nvSpPr>
          <p:cNvPr id="27" name="Text 17"/>
          <p:cNvSpPr/>
          <p:nvPr/>
        </p:nvSpPr>
        <p:spPr>
          <a:xfrm>
            <a:off x="7680960" y="3950208"/>
            <a:ext cx="3550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Autopilot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зниження операційних витрат</a:t>
            </a:r>
            <a:endParaRPr lang="en-US" sz="1350" dirty="0"/>
          </a:p>
        </p:txBody>
      </p:sp>
      <p:sp>
        <p:nvSpPr>
          <p:cNvPr id="28" name="Shape 18"/>
          <p:cNvSpPr/>
          <p:nvPr/>
        </p:nvSpPr>
        <p:spPr>
          <a:xfrm>
            <a:off x="7406640" y="4946904"/>
            <a:ext cx="146304" cy="146304"/>
          </a:xfrm>
          <a:prstGeom prst="ellipse">
            <a:avLst/>
          </a:prstGeom>
          <a:solidFill>
            <a:srgbClr val="8AB4F8"/>
          </a:solidFill>
          <a:ln/>
        </p:spPr>
      </p:sp>
      <p:sp>
        <p:nvSpPr>
          <p:cNvPr id="29" name="Text 19"/>
          <p:cNvSpPr/>
          <p:nvPr/>
        </p:nvSpPr>
        <p:spPr>
          <a:xfrm>
            <a:off x="7680960" y="4791456"/>
            <a:ext cx="3550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через Argo Rollouts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прогресивні стратегії релізу</a:t>
            </a:r>
            <a:endParaRPr lang="en-US" sz="1350" dirty="0"/>
          </a:p>
        </p:txBody>
      </p:sp>
      <p:sp>
        <p:nvSpPr>
          <p:cNvPr id="30" name="Text 20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gke-terraform-project</a:t>
            </a:r>
            <a:endParaRPr lang="en-US" sz="900" dirty="0"/>
          </a:p>
        </p:txBody>
      </p:sp>
      <p:sp>
        <p:nvSpPr>
          <p:cNvPr id="31" name="Text 21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82616" y="1965960"/>
            <a:ext cx="274320" cy="2743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5766664" y="1965960"/>
            <a:ext cx="274320" cy="2743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150712" y="1965960"/>
            <a:ext cx="274320" cy="27432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6534760" y="1965960"/>
            <a:ext cx="274320" cy="2743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Дякую за увагу!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Готовий відповісти на ваші запитання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 ·  GitHub Actions  ·  Workload Identity Federation  ·  GKE  ·  DORA Elite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Автоматизована система розгортання інфраструктури на базі GKE</dc:title>
  <dc:subject>PptxGenJS Presentation</dc:subject>
  <dc:creator>Денис</dc:creator>
  <cp:lastModifiedBy>Денис</cp:lastModifiedBy>
  <cp:revision>1</cp:revision>
  <dcterms:created xsi:type="dcterms:W3CDTF">2026-05-27T14:53:36Z</dcterms:created>
  <dcterms:modified xsi:type="dcterms:W3CDTF">2026-05-27T14:53:36Z</dcterms:modified>
</cp:coreProperties>
</file>